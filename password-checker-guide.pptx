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e8ea6c5-3629-b4a6-580f-3abe370d17e0}">
          <p14:sldIdLst>
            <p14:sldId id="256"/>
            <p14:sldId id="257"/>
          </p14:sldIdLst>
        </p14:section>
        <p14:section name="Using the website" id="{f0197c32-d24a-bfff-8e5c-184306ef3b56}">
          <p14:sldIdLst>
            <p14:sldId id="258"/>
            <p14:sldId id="259"/>
            <p14:sldId id="260"/>
            <p14:sldId id="261"/>
          </p14:sldIdLst>
        </p14:section>
        <p14:section name="The message" id="{2d5c4967-364b-12e1-ca85-5d1df432d2a3}">
          <p14:sldIdLst>
            <p14:sldId id="262"/>
            <p14:sldId id="263"/>
          </p14:sldIdLst>
        </p14:section>
        <p14:section name="How it works" id="{414d5b7e-a535-a17f-f0c6-aef411c1c50f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covers three things: how to use the website, what message it is trying to give you, and how it is built and works behind the scenes.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website exactly as it looks in the browser, after checking hello and then Summer2024.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jobs: check, learn, improve.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 using the screenshot on the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part of the middle panel tells you something different. Colours match the meaning: red is weak, orange is medium, green is strong.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history of what you checked, shown as dots only. Middle: the main checker. Right: freshly made password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the page, from the tips to the guide, repeats these three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uses the same formula as the website: possible characters to the power of length, divided by 10 billion guesses per second. It is a rough guess, not a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HTML builds the page, CSS makes it look good, JavaScript makes it do things. The whole site is one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JavaScript at work. If you check the same password twice, it shows a note instead of adding it to the history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score starts as the number of rules passed. Patterns take one point off. A very common password is always Weak with a score of 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how the time estimate is made. Right: how the right-hand panel creates passphrases and random passwords.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page practices what it preaches: nothing is saved or uploaded.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try the checker with your own passwords, but never type a real password you use anywhere into an unfamiliar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Strength Checker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What it is, how to use it, and how it works inside.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6309360" y="1005840"/>
            <a:ext cx="2468880" cy="246888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5" name="Hero icon" descr="Shie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6916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ull website screenshot" descr="Screenshot of the Password Strength Checker website with Summer2024 check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this website?</a:t>
            </a:r>
            <a:endParaRPr lang="en-US" sz="3600" dirty="0"/>
          </a:p>
        </p:txBody>
      </p:sp>
      <p:sp>
        <p:nvSpPr>
          <p:cNvPr id="3" name="Statement card"/>
          <p:cNvSpPr/>
          <p:nvPr/>
        </p:nvSpPr>
        <p:spPr>
          <a:xfrm>
            <a:off x="548640" y="137160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6A3FA0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free page that tells you how strong a password is, explains why, and gives you better ones to use.</a:t>
            </a:r>
            <a:endParaRPr lang="en-US" sz="2200" dirty="0"/>
          </a:p>
        </p:txBody>
      </p:sp>
      <p:sp>
        <p:nvSpPr>
          <p:cNvPr id="5" name="Feature row Check"/>
          <p:cNvSpPr/>
          <p:nvPr/>
        </p:nvSpPr>
        <p:spPr>
          <a:xfrm>
            <a:off x="4663440" y="137160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6" name="Check circle"/>
          <p:cNvSpPr/>
          <p:nvPr/>
        </p:nvSpPr>
        <p:spPr>
          <a:xfrm>
            <a:off x="4846320" y="1600200"/>
            <a:ext cx="548640" cy="548640"/>
          </a:xfrm>
          <a:prstGeom prst="ellipse">
            <a:avLst/>
          </a:prstGeom>
          <a:solidFill>
            <a:srgbClr val="6A3FA0"/>
          </a:solidFill>
          <a:ln/>
        </p:spPr>
      </p:sp>
      <p:pic>
        <p:nvPicPr>
          <p:cNvPr id="7" name="Check icon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373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577840" y="1463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Check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Rates any password as Weak, Medium or Strong.</a:t>
            </a:r>
            <a:endParaRPr lang="en-US" sz="1400" dirty="0"/>
          </a:p>
        </p:txBody>
      </p:sp>
      <p:sp>
        <p:nvSpPr>
          <p:cNvPr id="10" name="Feature row Learn"/>
          <p:cNvSpPr/>
          <p:nvPr/>
        </p:nvSpPr>
        <p:spPr>
          <a:xfrm>
            <a:off x="4663440" y="246888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1" name="Learn circle"/>
          <p:cNvSpPr/>
          <p:nvPr/>
        </p:nvSpPr>
        <p:spPr>
          <a:xfrm>
            <a:off x="4846320" y="2697480"/>
            <a:ext cx="548640" cy="54864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12" name="Learn icon" descr="Lear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83464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7784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Learn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577840" y="2926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Shows which rules passed and what to fix.</a:t>
            </a:r>
            <a:endParaRPr lang="en-US" sz="1400" dirty="0"/>
          </a:p>
        </p:txBody>
      </p:sp>
      <p:sp>
        <p:nvSpPr>
          <p:cNvPr id="15" name="Feature row Improve"/>
          <p:cNvSpPr/>
          <p:nvPr/>
        </p:nvSpPr>
        <p:spPr>
          <a:xfrm>
            <a:off x="4663440" y="356616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6" name="Improve circle"/>
          <p:cNvSpPr/>
          <p:nvPr/>
        </p:nvSpPr>
        <p:spPr>
          <a:xfrm>
            <a:off x="4846320" y="3794760"/>
            <a:ext cx="548640" cy="548640"/>
          </a:xfrm>
          <a:prstGeom prst="ellipse">
            <a:avLst/>
          </a:prstGeom>
          <a:solidFill>
            <a:srgbClr val="2B8A3E"/>
          </a:solidFill>
          <a:ln/>
        </p:spPr>
      </p:sp>
      <p:pic>
        <p:nvPicPr>
          <p:cNvPr id="17" name="Improve icon" descr="Impr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93192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77840" y="3657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Improve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577840" y="4023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Makes four stronger options you can copy.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it</a:t>
            </a:r>
            <a:endParaRPr lang="en-US" sz="3600" dirty="0"/>
          </a:p>
        </p:txBody>
      </p:sp>
      <p:pic>
        <p:nvPicPr>
          <p:cNvPr id="3" name="Usage screenshot" descr="Screenshot of the checker after checking Summer20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023360" cy="3285744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4" name="Step circle 1"/>
          <p:cNvSpPr/>
          <p:nvPr/>
        </p:nvSpPr>
        <p:spPr>
          <a:xfrm>
            <a:off x="489204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8920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577840" y="12070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Type a password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577840" y="1536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Click the box and type. Press Show to see what you typed.</a:t>
            </a:r>
            <a:endParaRPr lang="en-US" sz="1400" dirty="0"/>
          </a:p>
        </p:txBody>
      </p:sp>
      <p:sp>
        <p:nvSpPr>
          <p:cNvPr id="8" name="Step circle 2"/>
          <p:cNvSpPr/>
          <p:nvPr/>
        </p:nvSpPr>
        <p:spPr>
          <a:xfrm>
            <a:off x="4892040" y="2103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920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577840" y="2075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Press Check Strength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2404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 just press the Enter key.</a:t>
            </a:r>
            <a:endParaRPr lang="en-US" sz="1400" dirty="0"/>
          </a:p>
        </p:txBody>
      </p:sp>
      <p:sp>
        <p:nvSpPr>
          <p:cNvPr id="12" name="Step circle 3"/>
          <p:cNvSpPr/>
          <p:nvPr/>
        </p:nvSpPr>
        <p:spPr>
          <a:xfrm>
            <a:off x="4892040" y="29718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920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577840" y="2944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Read the results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3273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See the bar, rating, score and crack time.</a:t>
            </a:r>
            <a:endParaRPr lang="en-US" sz="1400" dirty="0"/>
          </a:p>
        </p:txBody>
      </p:sp>
      <p:sp>
        <p:nvSpPr>
          <p:cNvPr id="16" name="Step circle 4"/>
          <p:cNvSpPr/>
          <p:nvPr/>
        </p:nvSpPr>
        <p:spPr>
          <a:xfrm>
            <a:off x="4892040" y="38404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920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577840" y="38130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Make it better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577840" y="41422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Follow the orange tips, or copy a stronger option.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your results</a:t>
            </a:r>
            <a:endParaRPr lang="en-US" sz="3600" dirty="0"/>
          </a:p>
        </p:txBody>
      </p:sp>
      <p:pic>
        <p:nvPicPr>
          <p:cNvPr id="3" name="Checker panel screenshot" descr="The Check your password panel showing a Medium res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2112264" cy="352044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4" name="Result row 1"/>
          <p:cNvSpPr/>
          <p:nvPr/>
        </p:nvSpPr>
        <p:spPr>
          <a:xfrm>
            <a:off x="2834640" y="1188720"/>
            <a:ext cx="57607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5" name="Result dot 1"/>
          <p:cNvSpPr/>
          <p:nvPr/>
        </p:nvSpPr>
        <p:spPr>
          <a:xfrm>
            <a:off x="3017520" y="1362456"/>
            <a:ext cx="274320" cy="27432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474720" y="118872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Bar and rating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188720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Fills up and turns red, orange or green.</a:t>
            </a:r>
            <a:endParaRPr lang="en-US" sz="1400" dirty="0"/>
          </a:p>
        </p:txBody>
      </p:sp>
      <p:sp>
        <p:nvSpPr>
          <p:cNvPr id="8" name="Result row 2"/>
          <p:cNvSpPr/>
          <p:nvPr/>
        </p:nvSpPr>
        <p:spPr>
          <a:xfrm>
            <a:off x="2834640" y="1901952"/>
            <a:ext cx="57607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9" name="Result dot 2"/>
          <p:cNvSpPr/>
          <p:nvPr/>
        </p:nvSpPr>
        <p:spPr>
          <a:xfrm>
            <a:off x="3017520" y="2075688"/>
            <a:ext cx="274320" cy="274320"/>
          </a:xfrm>
          <a:prstGeom prst="ellipse">
            <a:avLst/>
          </a:prstGeom>
          <a:solidFill>
            <a:srgbClr val="6A3FA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74720" y="190195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Length and score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1901952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How many characters, and points out of 6.</a:t>
            </a:r>
            <a:endParaRPr lang="en-US" sz="1400" dirty="0"/>
          </a:p>
        </p:txBody>
      </p:sp>
      <p:sp>
        <p:nvSpPr>
          <p:cNvPr id="12" name="Result row 3"/>
          <p:cNvSpPr/>
          <p:nvPr/>
        </p:nvSpPr>
        <p:spPr>
          <a:xfrm>
            <a:off x="2834640" y="2615184"/>
            <a:ext cx="57607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3" name="Result dot 3"/>
          <p:cNvSpPr/>
          <p:nvPr/>
        </p:nvSpPr>
        <p:spPr>
          <a:xfrm>
            <a:off x="3017520" y="2788920"/>
            <a:ext cx="274320" cy="274320"/>
          </a:xfrm>
          <a:prstGeom prst="ellipse">
            <a:avLst/>
          </a:prstGeom>
          <a:solidFill>
            <a:srgbClr val="0FA3B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74720" y="26151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Time to crack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212080" y="2615184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rough guess for a fast attacker.</a:t>
            </a:r>
            <a:endParaRPr lang="en-US" sz="1400" dirty="0"/>
          </a:p>
        </p:txBody>
      </p:sp>
      <p:sp>
        <p:nvSpPr>
          <p:cNvPr id="16" name="Result row 4"/>
          <p:cNvSpPr/>
          <p:nvPr/>
        </p:nvSpPr>
        <p:spPr>
          <a:xfrm>
            <a:off x="2834640" y="3328416"/>
            <a:ext cx="57607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7" name="Result dot 4"/>
          <p:cNvSpPr/>
          <p:nvPr/>
        </p:nvSpPr>
        <p:spPr>
          <a:xfrm>
            <a:off x="3017520" y="3502152"/>
            <a:ext cx="274320" cy="274320"/>
          </a:xfrm>
          <a:prstGeom prst="ellipse">
            <a:avLst/>
          </a:prstGeom>
          <a:solidFill>
            <a:srgbClr val="2B8A3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474720" y="332841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Ticks and crosses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212080" y="3328416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Green means passed. Red means needs work.</a:t>
            </a:r>
            <a:endParaRPr lang="en-US" sz="1400" dirty="0"/>
          </a:p>
        </p:txBody>
      </p:sp>
      <p:sp>
        <p:nvSpPr>
          <p:cNvPr id="20" name="Result row 5"/>
          <p:cNvSpPr/>
          <p:nvPr/>
        </p:nvSpPr>
        <p:spPr>
          <a:xfrm>
            <a:off x="2834640" y="4041648"/>
            <a:ext cx="57607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1" name="Result dot 5"/>
          <p:cNvSpPr/>
          <p:nvPr/>
        </p:nvSpPr>
        <p:spPr>
          <a:xfrm>
            <a:off x="3017520" y="4215384"/>
            <a:ext cx="274320" cy="27432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474720" y="404164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Orange tips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212080" y="4041648"/>
            <a:ext cx="3246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Plain steps to make it stronger.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panels</a:t>
            </a:r>
            <a:endParaRPr lang="en-US" sz="3600" dirty="0"/>
          </a:p>
        </p:txBody>
      </p:sp>
      <p:pic>
        <p:nvPicPr>
          <p:cNvPr id="3" name="Previously checked screenshot" descr="Previously checked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716" y="1188720"/>
            <a:ext cx="1224169" cy="26517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Previously checked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checks as dots. Never saved.</a:t>
            </a:r>
            <a:endParaRPr lang="en-US" sz="1400" dirty="0"/>
          </a:p>
        </p:txBody>
      </p:sp>
      <p:pic>
        <p:nvPicPr>
          <p:cNvPr id="6" name="Check your password screenshot" descr="Check your password 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1188720"/>
            <a:ext cx="1591056" cy="26517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329184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Check your password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329184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Type, check and read the results.</a:t>
            </a:r>
            <a:endParaRPr lang="en-US" sz="1400" dirty="0"/>
          </a:p>
        </p:txBody>
      </p:sp>
      <p:pic>
        <p:nvPicPr>
          <p:cNvPr id="9" name="Better password options screenshot" descr="Better password options pan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116" y="1188720"/>
            <a:ext cx="1224169" cy="26517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603504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Better password options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03504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Four stronger ideas. Copy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it trying to tell you?</a:t>
            </a:r>
            <a:endParaRPr lang="en-US" sz="3600" dirty="0"/>
          </a:p>
        </p:txBody>
      </p:sp>
      <p:sp>
        <p:nvSpPr>
          <p:cNvPr id="3" name="Message card 1"/>
          <p:cNvSpPr/>
          <p:nvPr/>
        </p:nvSpPr>
        <p:spPr>
          <a:xfrm>
            <a:off x="548640" y="1280160"/>
            <a:ext cx="2560320" cy="27889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Longer is stronger circle"/>
          <p:cNvSpPr/>
          <p:nvPr/>
        </p:nvSpPr>
        <p:spPr>
          <a:xfrm>
            <a:off x="822960" y="1508760"/>
            <a:ext cx="685800" cy="685800"/>
          </a:xfrm>
          <a:prstGeom prst="ellipse">
            <a:avLst/>
          </a:prstGeom>
          <a:solidFill>
            <a:srgbClr val="6A3FA0"/>
          </a:solidFill>
          <a:ln/>
        </p:spPr>
      </p:sp>
      <p:pic>
        <p:nvPicPr>
          <p:cNvPr id="5" name="Longer is stronger icon" descr="Longer is stron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6802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Longer is stronger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extra character makes guessing far harder.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3FA0"/>
                </a:solidFill>
              </a:rPr>
              <a:t>Aim for 12 or more.</a:t>
            </a:r>
            <a:endParaRPr lang="en-US" sz="1400" dirty="0"/>
          </a:p>
        </p:txBody>
      </p:sp>
      <p:sp>
        <p:nvSpPr>
          <p:cNvPr id="9" name="Message card 2"/>
          <p:cNvSpPr/>
          <p:nvPr/>
        </p:nvSpPr>
        <p:spPr>
          <a:xfrm>
            <a:off x="3291840" y="1280160"/>
            <a:ext cx="2560320" cy="27889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void the obvious circle"/>
          <p:cNvSpPr/>
          <p:nvPr/>
        </p:nvSpPr>
        <p:spPr>
          <a:xfrm>
            <a:off x="3566160" y="1508760"/>
            <a:ext cx="685800" cy="685800"/>
          </a:xfrm>
          <a:prstGeom prst="ellipse">
            <a:avLst/>
          </a:prstGeom>
          <a:solidFill>
            <a:srgbClr val="F57C00"/>
          </a:solidFill>
          <a:ln/>
        </p:spPr>
      </p:sp>
      <p:pic>
        <p:nvPicPr>
          <p:cNvPr id="11" name="Avoid the obvious icon" descr="Avoid the obvio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610" y="16802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Avoid the obvious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Names, 123456 and p@ssw0rd swaps are tried first.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7C00"/>
                </a:solidFill>
              </a:rPr>
              <a:t>Patterns lose points.</a:t>
            </a:r>
            <a:endParaRPr lang="en-US" sz="1400" dirty="0"/>
          </a:p>
        </p:txBody>
      </p:sp>
      <p:sp>
        <p:nvSpPr>
          <p:cNvPr id="15" name="Message card 3"/>
          <p:cNvSpPr/>
          <p:nvPr/>
        </p:nvSpPr>
        <p:spPr>
          <a:xfrm>
            <a:off x="6035040" y="1280160"/>
            <a:ext cx="2560320" cy="27889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Never reuse one circle"/>
          <p:cNvSpPr/>
          <p:nvPr/>
        </p:nvSpPr>
        <p:spPr>
          <a:xfrm>
            <a:off x="6309360" y="1508760"/>
            <a:ext cx="685800" cy="68580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17" name="Never reuse one icon" descr="Never reuse 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810" y="168021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331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Never reuse one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leaked password opens every account that shares it.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309360" y="35204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A3B1"/>
                </a:solidFill>
              </a:rPr>
              <a:t>Use each for one account.</a:t>
            </a:r>
            <a:endParaRPr lang="en-US" sz="1400" dirty="0"/>
          </a:p>
        </p:txBody>
      </p:sp>
      <p:sp>
        <p:nvSpPr>
          <p:cNvPr id="21" name="Message banner"/>
          <p:cNvSpPr/>
          <p:nvPr/>
        </p:nvSpPr>
        <p:spPr>
          <a:xfrm>
            <a:off x="548640" y="4206240"/>
            <a:ext cx="8046720" cy="502920"/>
          </a:xfrm>
          <a:prstGeom prst="roundRect">
            <a:avLst>
              <a:gd name="adj" fmla="val 21818"/>
            </a:avLst>
          </a:prstGeom>
          <a:solidFill>
            <a:srgbClr val="6A3FA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The message: make it long, make it unusual, and use a different one for every account.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length matters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Same mix of letters, numbers and symbols, same fast attacker. Only the length changes.</a:t>
            </a:r>
            <a:endParaRPr lang="en-US" sz="1600" dirty="0"/>
          </a:p>
        </p:txBody>
      </p:sp>
      <p:sp>
        <p:nvSpPr>
          <p:cNvPr id="4" name="Bar 8"/>
          <p:cNvSpPr/>
          <p:nvPr/>
        </p:nvSpPr>
        <p:spPr>
          <a:xfrm>
            <a:off x="777240" y="3703320"/>
            <a:ext cx="1188720" cy="411480"/>
          </a:xfrm>
          <a:prstGeom prst="roundRect">
            <a:avLst>
              <a:gd name="adj" fmla="val 17778"/>
            </a:avLst>
          </a:prstGeom>
          <a:solidFill>
            <a:srgbClr val="F57C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313639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7 days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87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characters</a:t>
            </a:r>
            <a:endParaRPr lang="en-US" sz="1400" dirty="0"/>
          </a:p>
        </p:txBody>
      </p:sp>
      <p:sp>
        <p:nvSpPr>
          <p:cNvPr id="7" name="Bar 10"/>
          <p:cNvSpPr/>
          <p:nvPr/>
        </p:nvSpPr>
        <p:spPr>
          <a:xfrm>
            <a:off x="2377440" y="3246120"/>
            <a:ext cx="1188720" cy="868680"/>
          </a:xfrm>
          <a:prstGeom prst="roundRect">
            <a:avLst>
              <a:gd name="adj" fmla="val 8421"/>
            </a:avLst>
          </a:prstGeom>
          <a:solidFill>
            <a:srgbClr val="F57C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194560" y="267919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171 years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4187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characters</a:t>
            </a:r>
            <a:endParaRPr lang="en-US" sz="1400" dirty="0"/>
          </a:p>
        </p:txBody>
      </p:sp>
      <p:sp>
        <p:nvSpPr>
          <p:cNvPr id="10" name="Bar 12"/>
          <p:cNvSpPr/>
          <p:nvPr/>
        </p:nvSpPr>
        <p:spPr>
          <a:xfrm>
            <a:off x="3977640" y="274320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2B8A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94760" y="217627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1.5 million years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4187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characters</a:t>
            </a:r>
            <a:endParaRPr lang="en-US" sz="1400" dirty="0"/>
          </a:p>
        </p:txBody>
      </p:sp>
      <p:sp>
        <p:nvSpPr>
          <p:cNvPr id="13" name="Bar 14"/>
          <p:cNvSpPr/>
          <p:nvPr/>
        </p:nvSpPr>
        <p:spPr>
          <a:xfrm>
            <a:off x="5577840" y="2286000"/>
            <a:ext cx="1188720" cy="1828800"/>
          </a:xfrm>
          <a:prstGeom prst="roundRect">
            <a:avLst>
              <a:gd name="adj" fmla="val 6154"/>
            </a:avLst>
          </a:prstGeom>
          <a:solidFill>
            <a:srgbClr val="2B8A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94960" y="171907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13 billion years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4187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14 characters</a:t>
            </a:r>
            <a:endParaRPr lang="en-US" sz="1400" dirty="0"/>
          </a:p>
        </p:txBody>
      </p:sp>
      <p:sp>
        <p:nvSpPr>
          <p:cNvPr id="16" name="Bar 16"/>
          <p:cNvSpPr/>
          <p:nvPr/>
        </p:nvSpPr>
        <p:spPr>
          <a:xfrm>
            <a:off x="7178040" y="1828800"/>
            <a:ext cx="1188720" cy="2286000"/>
          </a:xfrm>
          <a:prstGeom prst="roundRect">
            <a:avLst>
              <a:gd name="adj" fmla="val 6154"/>
            </a:avLst>
          </a:prstGeom>
          <a:solidFill>
            <a:srgbClr val="2B8A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95160" y="126187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118 trillion years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4187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16 characters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17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Bar heights are not to scale. The real gaps are far bigger.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 built from</a:t>
            </a:r>
            <a:endParaRPr lang="en-US" sz="3600" dirty="0"/>
          </a:p>
        </p:txBody>
      </p:sp>
      <p:sp>
        <p:nvSpPr>
          <p:cNvPr id="3" name="HTML card"/>
          <p:cNvSpPr/>
          <p:nvPr/>
        </p:nvSpPr>
        <p:spPr>
          <a:xfrm>
            <a:off x="548640" y="1280160"/>
            <a:ext cx="2560320" cy="3063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HTML circle"/>
          <p:cNvSpPr/>
          <p:nvPr/>
        </p:nvSpPr>
        <p:spPr>
          <a:xfrm>
            <a:off x="822960" y="1508760"/>
            <a:ext cx="731520" cy="731520"/>
          </a:xfrm>
          <a:prstGeom prst="ellipse">
            <a:avLst/>
          </a:prstGeom>
          <a:solidFill>
            <a:srgbClr val="D9480F"/>
          </a:solidFill>
          <a:ln/>
        </p:spPr>
      </p:sp>
      <p:pic>
        <p:nvPicPr>
          <p:cNvPr id="5" name="HTML icon" descr="HTM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HTML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480F"/>
                </a:solidFill>
              </a:rPr>
              <a:t>Structure</a:t>
            </a:r>
            <a:endParaRPr lang="en-US" sz="1500" dirty="0"/>
          </a:p>
        </p:txBody>
      </p:sp>
      <p:sp>
        <p:nvSpPr>
          <p:cNvPr id="8" name="HTML list"/>
          <p:cNvSpPr txBox="1"/>
          <p:nvPr/>
        </p:nvSpPr>
        <p:spPr>
          <a:xfrm>
            <a:off x="822960" y="32004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Title and header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Three panels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Guide and footer</a:t>
            </a:r>
            <a:endParaRPr lang="en-US" sz="1400" dirty="0"/>
          </a:p>
        </p:txBody>
      </p:sp>
      <p:sp>
        <p:nvSpPr>
          <p:cNvPr id="9" name="CSS card"/>
          <p:cNvSpPr/>
          <p:nvPr/>
        </p:nvSpPr>
        <p:spPr>
          <a:xfrm>
            <a:off x="3291840" y="1280160"/>
            <a:ext cx="2560320" cy="3063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SS circle"/>
          <p:cNvSpPr/>
          <p:nvPr/>
        </p:nvSpPr>
        <p:spPr>
          <a:xfrm>
            <a:off x="3566160" y="1508760"/>
            <a:ext cx="731520" cy="731520"/>
          </a:xfrm>
          <a:prstGeom prst="ellipse">
            <a:avLst/>
          </a:prstGeom>
          <a:solidFill>
            <a:srgbClr val="1C7ED6"/>
          </a:solidFill>
          <a:ln/>
        </p:spPr>
      </p:sp>
      <p:pic>
        <p:nvPicPr>
          <p:cNvPr id="11" name="CSS icon" descr="C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6916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CSS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ED6"/>
                </a:solidFill>
              </a:rPr>
              <a:t>Style</a:t>
            </a:r>
            <a:endParaRPr lang="en-US" sz="1500" dirty="0"/>
          </a:p>
        </p:txBody>
      </p:sp>
      <p:sp>
        <p:nvSpPr>
          <p:cNvPr id="14" name="CSS list"/>
          <p:cNvSpPr txBox="1"/>
          <p:nvPr/>
        </p:nvSpPr>
        <p:spPr>
          <a:xfrm>
            <a:off x="3566160" y="32004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Three-column layout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Colours and rounded cards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Fits on a phone too</a:t>
            </a:r>
            <a:endParaRPr lang="en-US" sz="1400" dirty="0"/>
          </a:p>
        </p:txBody>
      </p:sp>
      <p:sp>
        <p:nvSpPr>
          <p:cNvPr id="15" name="JavaScript card"/>
          <p:cNvSpPr/>
          <p:nvPr/>
        </p:nvSpPr>
        <p:spPr>
          <a:xfrm>
            <a:off x="6035040" y="1280160"/>
            <a:ext cx="2560320" cy="30632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JavaScript circle"/>
          <p:cNvSpPr/>
          <p:nvPr/>
        </p:nvSpPr>
        <p:spPr>
          <a:xfrm>
            <a:off x="6309360" y="1508760"/>
            <a:ext cx="731520" cy="731520"/>
          </a:xfrm>
          <a:prstGeom prst="ellipse">
            <a:avLst/>
          </a:prstGeom>
          <a:solidFill>
            <a:srgbClr val="6A3FA0"/>
          </a:solidFill>
          <a:ln/>
        </p:spPr>
      </p:sp>
      <p:pic>
        <p:nvPicPr>
          <p:cNvPr id="17" name="JavaScript icon" descr="JavaScrip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916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JavaScript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A3FA0"/>
                </a:solidFill>
              </a:rPr>
              <a:t>Brain</a:t>
            </a:r>
            <a:endParaRPr lang="en-US" sz="1500" dirty="0"/>
          </a:p>
        </p:txBody>
      </p:sp>
      <p:sp>
        <p:nvSpPr>
          <p:cNvPr id="20" name="JavaScript list"/>
          <p:cNvSpPr txBox="1"/>
          <p:nvPr/>
        </p:nvSpPr>
        <p:spPr>
          <a:xfrm>
            <a:off x="6309360" y="320040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Scores the password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Makes new options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Runs every button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you press Check</a:t>
            </a:r>
            <a:endParaRPr lang="en-US" sz="3600" dirty="0"/>
          </a:p>
        </p:txBody>
      </p:sp>
      <p:sp>
        <p:nvSpPr>
          <p:cNvPr id="3" name="Flow row 1"/>
          <p:cNvSpPr/>
          <p:nvPr/>
        </p:nvSpPr>
        <p:spPr>
          <a:xfrm>
            <a:off x="548640" y="1188720"/>
            <a:ext cx="80467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4" name="Flow Read circle"/>
          <p:cNvSpPr/>
          <p:nvPr/>
        </p:nvSpPr>
        <p:spPr>
          <a:xfrm>
            <a:off x="731520" y="1271016"/>
            <a:ext cx="457200" cy="457200"/>
          </a:xfrm>
          <a:prstGeom prst="ellipse">
            <a:avLst/>
          </a:prstGeom>
          <a:solidFill>
            <a:srgbClr val="6A3FA0"/>
          </a:solidFill>
          <a:ln/>
        </p:spPr>
      </p:sp>
      <p:pic>
        <p:nvPicPr>
          <p:cNvPr id="5" name="Flow Read icon" descr="Flow Re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385316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18872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1. Read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017520" y="1188720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Grabs the text from the box.</a:t>
            </a:r>
            <a:endParaRPr lang="en-US" sz="1400" dirty="0"/>
          </a:p>
        </p:txBody>
      </p:sp>
      <p:sp>
        <p:nvSpPr>
          <p:cNvPr id="8" name="Flow row 2"/>
          <p:cNvSpPr/>
          <p:nvPr/>
        </p:nvSpPr>
        <p:spPr>
          <a:xfrm>
            <a:off x="548640" y="1901952"/>
            <a:ext cx="80467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9" name="Flow Analyse circle"/>
          <p:cNvSpPr/>
          <p:nvPr/>
        </p:nvSpPr>
        <p:spPr>
          <a:xfrm>
            <a:off x="731520" y="1984248"/>
            <a:ext cx="457200" cy="45720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10" name="Flow Analyse icon" descr="Flow Analy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2098548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1901952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2. Analyse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017520" y="1901952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 six rules, looks for repeats and runs like 123, and checks a list of common passwords.</a:t>
            </a:r>
            <a:endParaRPr lang="en-US" sz="1400" dirty="0"/>
          </a:p>
        </p:txBody>
      </p:sp>
      <p:sp>
        <p:nvSpPr>
          <p:cNvPr id="13" name="Flow row 3"/>
          <p:cNvSpPr/>
          <p:nvPr/>
        </p:nvSpPr>
        <p:spPr>
          <a:xfrm>
            <a:off x="548640" y="2615184"/>
            <a:ext cx="80467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4" name="Flow Score circle"/>
          <p:cNvSpPr/>
          <p:nvPr/>
        </p:nvSpPr>
        <p:spPr>
          <a:xfrm>
            <a:off x="731520" y="2697480"/>
            <a:ext cx="457200" cy="457200"/>
          </a:xfrm>
          <a:prstGeom prst="ellipse">
            <a:avLst/>
          </a:prstGeom>
          <a:solidFill>
            <a:srgbClr val="F57C00"/>
          </a:solidFill>
          <a:ln/>
        </p:spPr>
      </p:sp>
      <p:pic>
        <p:nvPicPr>
          <p:cNvPr id="15" name="Flow Score icon" descr="Flow Sc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281178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261518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3. Score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3017520" y="2615184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Counts the points and picks Weak, Medium or Strong.</a:t>
            </a:r>
            <a:endParaRPr lang="en-US" sz="1400" dirty="0"/>
          </a:p>
        </p:txBody>
      </p:sp>
      <p:sp>
        <p:nvSpPr>
          <p:cNvPr id="18" name="Flow row 4"/>
          <p:cNvSpPr/>
          <p:nvPr/>
        </p:nvSpPr>
        <p:spPr>
          <a:xfrm>
            <a:off x="548640" y="3328416"/>
            <a:ext cx="80467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19" name="Flow Show circle"/>
          <p:cNvSpPr/>
          <p:nvPr/>
        </p:nvSpPr>
        <p:spPr>
          <a:xfrm>
            <a:off x="731520" y="3410712"/>
            <a:ext cx="457200" cy="457200"/>
          </a:xfrm>
          <a:prstGeom prst="ellipse">
            <a:avLst/>
          </a:prstGeom>
          <a:solidFill>
            <a:srgbClr val="2B8A3E"/>
          </a:solidFill>
          <a:ln/>
        </p:spPr>
      </p:sp>
      <p:pic>
        <p:nvPicPr>
          <p:cNvPr id="20" name="Flow Show icon" descr="Flow Sh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52501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328416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4. Show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3017520" y="3328416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Draws the bar, rating, ticks, crosses, tips and crack time.</a:t>
            </a:r>
            <a:endParaRPr lang="en-US" sz="1400" dirty="0"/>
          </a:p>
        </p:txBody>
      </p:sp>
      <p:sp>
        <p:nvSpPr>
          <p:cNvPr id="23" name="Flow row 5"/>
          <p:cNvSpPr/>
          <p:nvPr/>
        </p:nvSpPr>
        <p:spPr>
          <a:xfrm>
            <a:off x="548640" y="4041648"/>
            <a:ext cx="804672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sp>
        <p:nvSpPr>
          <p:cNvPr id="24" name="Flow Remember circle"/>
          <p:cNvSpPr/>
          <p:nvPr/>
        </p:nvSpPr>
        <p:spPr>
          <a:xfrm>
            <a:off x="731520" y="4123944"/>
            <a:ext cx="457200" cy="457200"/>
          </a:xfrm>
          <a:prstGeom prst="ellipse">
            <a:avLst/>
          </a:prstGeom>
          <a:solidFill>
            <a:srgbClr val="1C7ED6"/>
          </a:solidFill>
          <a:ln/>
        </p:spPr>
      </p:sp>
      <p:pic>
        <p:nvPicPr>
          <p:cNvPr id="25" name="Flow Remember icon" descr="Flow Rememb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4238244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4041648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5. Remember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3017520" y="4041648"/>
            <a:ext cx="5394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Adds a dots-only entry to Previously checked.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decides the score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Six rules, one point each</a:t>
            </a:r>
            <a:endParaRPr lang="en-US" sz="1800" dirty="0"/>
          </a:p>
        </p:txBody>
      </p:sp>
      <p:sp>
        <p:nvSpPr>
          <p:cNvPr id="4" name="Rule chip 1"/>
          <p:cNvSpPr/>
          <p:nvPr/>
        </p:nvSpPr>
        <p:spPr>
          <a:xfrm>
            <a:off x="548640" y="1600200"/>
            <a:ext cx="1965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pic>
        <p:nvPicPr>
          <p:cNvPr id="5" name="Chip tick 1" descr="T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92224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1600200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 or more characters</a:t>
            </a:r>
            <a:endParaRPr lang="en-US" sz="1400" dirty="0"/>
          </a:p>
        </p:txBody>
      </p:sp>
      <p:sp>
        <p:nvSpPr>
          <p:cNvPr id="7" name="Rule chip 2"/>
          <p:cNvSpPr/>
          <p:nvPr/>
        </p:nvSpPr>
        <p:spPr>
          <a:xfrm>
            <a:off x="2606040" y="1600200"/>
            <a:ext cx="1965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pic>
        <p:nvPicPr>
          <p:cNvPr id="8" name="Chip tick 2" descr="T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792224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063240" y="1600200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 or more characters</a:t>
            </a:r>
            <a:endParaRPr lang="en-US" sz="1400" dirty="0"/>
          </a:p>
        </p:txBody>
      </p:sp>
      <p:sp>
        <p:nvSpPr>
          <p:cNvPr id="10" name="Rule chip 3"/>
          <p:cNvSpPr/>
          <p:nvPr/>
        </p:nvSpPr>
        <p:spPr>
          <a:xfrm>
            <a:off x="548640" y="2331720"/>
            <a:ext cx="1965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pic>
        <p:nvPicPr>
          <p:cNvPr id="11" name="Chip tick 3" descr="Ti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23744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05840" y="2331720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lowercase letter</a:t>
            </a:r>
            <a:endParaRPr lang="en-US" sz="1400" dirty="0"/>
          </a:p>
        </p:txBody>
      </p:sp>
      <p:sp>
        <p:nvSpPr>
          <p:cNvPr id="13" name="Rule chip 4"/>
          <p:cNvSpPr/>
          <p:nvPr/>
        </p:nvSpPr>
        <p:spPr>
          <a:xfrm>
            <a:off x="2606040" y="2331720"/>
            <a:ext cx="1965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pic>
        <p:nvPicPr>
          <p:cNvPr id="14" name="Chip tick 4" descr="Ti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768" y="252374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063240" y="2331720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uppercase letter</a:t>
            </a:r>
            <a:endParaRPr lang="en-US" sz="1400" dirty="0"/>
          </a:p>
        </p:txBody>
      </p:sp>
      <p:sp>
        <p:nvSpPr>
          <p:cNvPr id="16" name="Rule chip 5"/>
          <p:cNvSpPr/>
          <p:nvPr/>
        </p:nvSpPr>
        <p:spPr>
          <a:xfrm>
            <a:off x="548640" y="3063240"/>
            <a:ext cx="1965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pic>
        <p:nvPicPr>
          <p:cNvPr id="17" name="Chip tick 5" descr="Ti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255264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05840" y="3063240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number</a:t>
            </a:r>
            <a:endParaRPr lang="en-US" sz="1400" dirty="0"/>
          </a:p>
        </p:txBody>
      </p:sp>
      <p:sp>
        <p:nvSpPr>
          <p:cNvPr id="19" name="Rule chip 6"/>
          <p:cNvSpPr/>
          <p:nvPr/>
        </p:nvSpPr>
        <p:spPr>
          <a:xfrm>
            <a:off x="2606040" y="3063240"/>
            <a:ext cx="196596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/>
        </p:spPr>
      </p:sp>
      <p:pic>
        <p:nvPicPr>
          <p:cNvPr id="20" name="Chip tick 6" descr="Ti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768" y="3255264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063240" y="3063240"/>
            <a:ext cx="14447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symbol like ! or #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48463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Then it adjusts</a:t>
            </a:r>
            <a:endParaRPr lang="en-US" sz="1800" dirty="0"/>
          </a:p>
        </p:txBody>
      </p:sp>
      <p:sp>
        <p:nvSpPr>
          <p:cNvPr id="23" name="Adjust card 1"/>
          <p:cNvSpPr/>
          <p:nvPr/>
        </p:nvSpPr>
        <p:spPr>
          <a:xfrm>
            <a:off x="4846320" y="1600200"/>
            <a:ext cx="3749040" cy="804672"/>
          </a:xfrm>
          <a:prstGeom prst="roundRect">
            <a:avLst>
              <a:gd name="adj" fmla="val 13636"/>
            </a:avLst>
          </a:prstGeom>
          <a:solidFill>
            <a:srgbClr val="F57C00"/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5029200" y="1655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Patterns lose 1 point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5029200" y="20208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aaa, 123, abc or keyboard rows like qwerty</a:t>
            </a:r>
            <a:endParaRPr lang="en-US" sz="1300" dirty="0"/>
          </a:p>
        </p:txBody>
      </p:sp>
      <p:sp>
        <p:nvSpPr>
          <p:cNvPr id="26" name="Adjust card 2"/>
          <p:cNvSpPr/>
          <p:nvPr/>
        </p:nvSpPr>
        <p:spPr>
          <a:xfrm>
            <a:off x="4846320" y="2514600"/>
            <a:ext cx="3749040" cy="804672"/>
          </a:xfrm>
          <a:prstGeom prst="roundRect">
            <a:avLst>
              <a:gd name="adj" fmla="val 13636"/>
            </a:avLst>
          </a:prstGeom>
          <a:solidFill>
            <a:srgbClr val="D32F2F"/>
          </a:solidFill>
          <a:ln/>
        </p:spPr>
      </p:sp>
      <p:sp>
        <p:nvSpPr>
          <p:cNvPr id="27" name="Text 19"/>
          <p:cNvSpPr txBox="1"/>
          <p:nvPr/>
        </p:nvSpPr>
        <p:spPr>
          <a:xfrm>
            <a:off x="5029200" y="25694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Common passwords are Weak</a:t>
            </a:r>
            <a:endParaRPr lang="en-US" sz="1500" dirty="0"/>
          </a:p>
        </p:txBody>
      </p:sp>
      <p:sp>
        <p:nvSpPr>
          <p:cNvPr id="28" name="Text 20"/>
          <p:cNvSpPr txBox="1"/>
          <p:nvPr/>
        </p:nvSpPr>
        <p:spPr>
          <a:xfrm>
            <a:off x="5029200" y="29352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list of 20, such as password and 123456</a:t>
            </a:r>
            <a:endParaRPr lang="en-US" sz="1300" dirty="0"/>
          </a:p>
        </p:txBody>
      </p:sp>
      <p:sp>
        <p:nvSpPr>
          <p:cNvPr id="29" name="Adjust card 3"/>
          <p:cNvSpPr/>
          <p:nvPr/>
        </p:nvSpPr>
        <p:spPr>
          <a:xfrm>
            <a:off x="4846320" y="3429000"/>
            <a:ext cx="3749040" cy="804672"/>
          </a:xfrm>
          <a:prstGeom prst="roundRect">
            <a:avLst>
              <a:gd name="adj" fmla="val 13636"/>
            </a:avLst>
          </a:prstGeom>
          <a:solidFill>
            <a:srgbClr val="2B8A3E"/>
          </a:solidFill>
          <a:ln/>
        </p:spPr>
      </p:sp>
      <p:sp>
        <p:nvSpPr>
          <p:cNvPr id="30" name="Text 22"/>
          <p:cNvSpPr txBox="1"/>
          <p:nvPr/>
        </p:nvSpPr>
        <p:spPr>
          <a:xfrm>
            <a:off x="5029200" y="34838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0-2 Weak, 3-4 Medium, 5-6 Strong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5029200" y="38496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final rating bands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Guessing time and new passwords</a:t>
            </a:r>
            <a:endParaRPr lang="en-US" sz="3600" dirty="0"/>
          </a:p>
        </p:txBody>
      </p:sp>
      <p:sp>
        <p:nvSpPr>
          <p:cNvPr id="3" name="Crack time guess card"/>
          <p:cNvSpPr/>
          <p:nvPr/>
        </p:nvSpPr>
        <p:spPr>
          <a:xfrm>
            <a:off x="548640" y="1280160"/>
            <a:ext cx="39319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rack time guess circle"/>
          <p:cNvSpPr/>
          <p:nvPr/>
        </p:nvSpPr>
        <p:spPr>
          <a:xfrm>
            <a:off x="822960" y="1463040"/>
            <a:ext cx="548640" cy="548640"/>
          </a:xfrm>
          <a:prstGeom prst="ellipse">
            <a:avLst/>
          </a:prstGeom>
          <a:solidFill>
            <a:srgbClr val="6A3FA0"/>
          </a:solidFill>
          <a:ln/>
        </p:spPr>
      </p:sp>
      <p:pic>
        <p:nvPicPr>
          <p:cNvPr id="5" name="Crack time guess icon" descr="Crack time gu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Crack time guess</a:t>
            </a:r>
            <a:endParaRPr lang="en-US" sz="2000" dirty="0"/>
          </a:p>
        </p:txBody>
      </p:sp>
      <p:sp>
        <p:nvSpPr>
          <p:cNvPr id="7" name="Crack time guess list"/>
          <p:cNvSpPr txBox="1"/>
          <p:nvPr/>
        </p:nvSpPr>
        <p:spPr>
          <a:xfrm>
            <a:off x="822960" y="21945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Adds up the character types used: 26 + 26 + 10 + 32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Time = possible characters ^ length, divided by 10 billion a second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Patterns make it 1000 times quicker</a:t>
            </a:r>
            <a:endParaRPr lang="en-US" sz="1400" dirty="0"/>
          </a:p>
        </p:txBody>
      </p:sp>
      <p:sp>
        <p:nvSpPr>
          <p:cNvPr id="8" name="Better options card"/>
          <p:cNvSpPr/>
          <p:nvPr/>
        </p:nvSpPr>
        <p:spPr>
          <a:xfrm>
            <a:off x="4663440" y="1280160"/>
            <a:ext cx="393192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etter options circle"/>
          <p:cNvSpPr/>
          <p:nvPr/>
        </p:nvSpPr>
        <p:spPr>
          <a:xfrm>
            <a:off x="4937760" y="1463040"/>
            <a:ext cx="548640" cy="548640"/>
          </a:xfrm>
          <a:prstGeom prst="ellipse">
            <a:avLst/>
          </a:prstGeom>
          <a:solidFill>
            <a:srgbClr val="2B8A3E"/>
          </a:solidFill>
          <a:ln/>
        </p:spPr>
      </p:sp>
      <p:pic>
        <p:nvPicPr>
          <p:cNvPr id="10" name="Better options icon" descr="Better opt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Better options</a:t>
            </a:r>
            <a:endParaRPr lang="en-US" sz="2000" dirty="0"/>
          </a:p>
        </p:txBody>
      </p:sp>
      <p:sp>
        <p:nvSpPr>
          <p:cNvPr id="12" name="Better options list"/>
          <p:cNvSpPr txBox="1"/>
          <p:nvPr/>
        </p:nvSpPr>
        <p:spPr>
          <a:xfrm>
            <a:off x="4937760" y="21945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Picks 4 words from a list of 46, plus a 2-digit number and a symbol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Also makes random 16 and 20 character strings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Uses the browser's secure random tool and retries until Strong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by design</a:t>
            </a:r>
            <a:endParaRPr lang="en-US" sz="3600" dirty="0"/>
          </a:p>
        </p:txBody>
      </p:sp>
      <p:sp>
        <p:nvSpPr>
          <p:cNvPr id="3" name="Safety card 1"/>
          <p:cNvSpPr/>
          <p:nvPr/>
        </p:nvSpPr>
        <p:spPr>
          <a:xfrm>
            <a:off x="5486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ays local circle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5" name="Stays local icon" descr="Stays loc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Stays local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063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password is sent anywhere. It all runs on your own device.</a:t>
            </a:r>
            <a:endParaRPr lang="en-US" sz="1400" dirty="0"/>
          </a:p>
        </p:txBody>
      </p:sp>
      <p:sp>
        <p:nvSpPr>
          <p:cNvPr id="8" name="Safety card 2"/>
          <p:cNvSpPr/>
          <p:nvPr/>
        </p:nvSpPr>
        <p:spPr>
          <a:xfrm>
            <a:off x="32918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Dots only circle"/>
          <p:cNvSpPr/>
          <p:nvPr/>
        </p:nvSpPr>
        <p:spPr>
          <a:xfrm>
            <a:off x="3566160" y="1645920"/>
            <a:ext cx="731520" cy="731520"/>
          </a:xfrm>
          <a:prstGeom prst="ellipse">
            <a:avLst/>
          </a:prstGeom>
          <a:solidFill>
            <a:srgbClr val="6A3FA0"/>
          </a:solidFill>
          <a:ln/>
        </p:spPr>
      </p:sp>
      <p:pic>
        <p:nvPicPr>
          <p:cNvPr id="10" name="Dots only icon" descr="Dots on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Dots only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3063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History shows dots and a length, and is gone when you refresh.</a:t>
            </a:r>
            <a:endParaRPr lang="en-US" sz="1400" dirty="0"/>
          </a:p>
        </p:txBody>
      </p:sp>
      <p:sp>
        <p:nvSpPr>
          <p:cNvPr id="13" name="Safety card 3"/>
          <p:cNvSpPr/>
          <p:nvPr/>
        </p:nvSpPr>
        <p:spPr>
          <a:xfrm>
            <a:off x="60350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Plain text only circle"/>
          <p:cNvSpPr/>
          <p:nvPr/>
        </p:nvSpPr>
        <p:spPr>
          <a:xfrm>
            <a:off x="6309360" y="1645920"/>
            <a:ext cx="731520" cy="731520"/>
          </a:xfrm>
          <a:prstGeom prst="ellipse">
            <a:avLst/>
          </a:prstGeom>
          <a:solidFill>
            <a:srgbClr val="2B8A3E"/>
          </a:solidFill>
          <a:ln/>
        </p:spPr>
      </p:sp>
      <p:pic>
        <p:nvPicPr>
          <p:cNvPr id="15" name="Plain text only icon" descr="Plain text on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Plain text only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0632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Anything typed is displayed as text, so it can't run as code.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</a:t>
            </a:r>
            <a:endParaRPr lang="en-US" sz="3800" dirty="0"/>
          </a:p>
        </p:txBody>
      </p:sp>
      <p:sp>
        <p:nvSpPr>
          <p:cNvPr id="3" name="You type circle"/>
          <p:cNvSpPr/>
          <p:nvPr/>
        </p:nvSpPr>
        <p:spPr>
          <a:xfrm>
            <a:off x="822960" y="1828800"/>
            <a:ext cx="1097280" cy="1097280"/>
          </a:xfrm>
          <a:prstGeom prst="ellipse">
            <a:avLst/>
          </a:prstGeom>
          <a:solidFill>
            <a:srgbClr val="6A3FA0"/>
          </a:solidFill>
          <a:ln/>
        </p:spPr>
      </p:sp>
      <p:pic>
        <p:nvPicPr>
          <p:cNvPr id="4" name="You type icon" descr="You 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031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You type</a:t>
            </a:r>
            <a:endParaRPr lang="en-US" sz="1800" dirty="0"/>
          </a:p>
        </p:txBody>
      </p:sp>
      <p:pic>
        <p:nvPicPr>
          <p:cNvPr id="6" name="Arrow 1" descr="Arr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240280"/>
            <a:ext cx="274320" cy="274320"/>
          </a:xfrm>
          <a:prstGeom prst="rect">
            <a:avLst/>
          </a:prstGeom>
        </p:spPr>
      </p:pic>
      <p:sp>
        <p:nvSpPr>
          <p:cNvPr id="7" name="JavaScript checks circle"/>
          <p:cNvSpPr/>
          <p:nvPr/>
        </p:nvSpPr>
        <p:spPr>
          <a:xfrm>
            <a:off x="2834640" y="1828800"/>
            <a:ext cx="1097280" cy="1097280"/>
          </a:xfrm>
          <a:prstGeom prst="ellipse">
            <a:avLst/>
          </a:prstGeom>
          <a:solidFill>
            <a:srgbClr val="0FA3B1"/>
          </a:solidFill>
          <a:ln/>
        </p:spPr>
      </p:sp>
      <p:pic>
        <p:nvPicPr>
          <p:cNvPr id="8" name="JavaScript checks icon" descr="JavaScript chec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103120"/>
            <a:ext cx="548640" cy="5486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46888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JavaScript checks</a:t>
            </a:r>
            <a:endParaRPr lang="en-US" sz="1800" dirty="0"/>
          </a:p>
        </p:txBody>
      </p:sp>
      <p:pic>
        <p:nvPicPr>
          <p:cNvPr id="10" name="Arrow 2" descr="Arrow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240280"/>
            <a:ext cx="274320" cy="274320"/>
          </a:xfrm>
          <a:prstGeom prst="rect">
            <a:avLst/>
          </a:prstGeom>
        </p:spPr>
      </p:pic>
      <p:sp>
        <p:nvSpPr>
          <p:cNvPr id="11" name="The page shows circle"/>
          <p:cNvSpPr/>
          <p:nvPr/>
        </p:nvSpPr>
        <p:spPr>
          <a:xfrm>
            <a:off x="4846320" y="1828800"/>
            <a:ext cx="1097280" cy="1097280"/>
          </a:xfrm>
          <a:prstGeom prst="ellipse">
            <a:avLst/>
          </a:prstGeom>
          <a:solidFill>
            <a:srgbClr val="F57C00"/>
          </a:solidFill>
          <a:ln/>
        </p:spPr>
      </p:sp>
      <p:pic>
        <p:nvPicPr>
          <p:cNvPr id="12" name="The page shows icon" descr="The page show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103120"/>
            <a:ext cx="548640" cy="54864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448056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page shows</a:t>
            </a:r>
            <a:endParaRPr lang="en-US" sz="1800" dirty="0"/>
          </a:p>
        </p:txBody>
      </p:sp>
      <p:pic>
        <p:nvPicPr>
          <p:cNvPr id="14" name="Arrow 3" descr="Arrow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2240280"/>
            <a:ext cx="274320" cy="274320"/>
          </a:xfrm>
          <a:prstGeom prst="rect">
            <a:avLst/>
          </a:prstGeom>
        </p:spPr>
      </p:pic>
      <p:sp>
        <p:nvSpPr>
          <p:cNvPr id="15" name="You choose better circle"/>
          <p:cNvSpPr/>
          <p:nvPr/>
        </p:nvSpPr>
        <p:spPr>
          <a:xfrm>
            <a:off x="6858000" y="1828800"/>
            <a:ext cx="1097280" cy="1097280"/>
          </a:xfrm>
          <a:prstGeom prst="ellipse">
            <a:avLst/>
          </a:prstGeom>
          <a:solidFill>
            <a:srgbClr val="2B8A3E"/>
          </a:solidFill>
          <a:ln/>
        </p:spPr>
      </p:sp>
      <p:pic>
        <p:nvPicPr>
          <p:cNvPr id="16" name="You choose better icon" descr="You choose bet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2103120"/>
            <a:ext cx="548640" cy="54864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649224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You choose better</a:t>
            </a:r>
            <a:endParaRPr lang="en-US" sz="1800" dirty="0"/>
          </a:p>
        </p:txBody>
      </p:sp>
      <p:sp>
        <p:nvSpPr>
          <p:cNvPr id="18" name="Text 9"/>
          <p:cNvSpPr txBox="1"/>
          <p:nvPr/>
        </p:nvSpPr>
        <p:spPr>
          <a:xfrm>
            <a:off x="822960" y="38404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HTML draws it, CSS styles it, JavaScript does the thinking. The result: a safer password.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ssword Checker Guide">
  <a:themeElements>
    <a:clrScheme name="Password Checker Guide">
      <a:dk1>
        <a:srgbClr val="243447"/>
      </a:dk1>
      <a:lt1>
        <a:srgbClr val="FFFFFF"/>
      </a:lt1>
      <a:dk2>
        <a:srgbClr val="1B1464"/>
      </a:dk2>
      <a:lt2>
        <a:srgbClr val="F3ECFF"/>
      </a:lt2>
      <a:accent1>
        <a:srgbClr val="6A3FA0"/>
      </a:accent1>
      <a:accent2>
        <a:srgbClr val="0FA3B1"/>
      </a:accent2>
      <a:accent3>
        <a:srgbClr val="2B8A3E"/>
      </a:accent3>
      <a:accent4>
        <a:srgbClr val="D32F2F"/>
      </a:accent4>
      <a:accent5>
        <a:srgbClr val="F57C00"/>
      </a:accent5>
      <a:accent6>
        <a:srgbClr val="1C7ED6"/>
      </a:accent6>
      <a:hlink>
        <a:srgbClr val="1C7ED6"/>
      </a:hlink>
      <a:folHlink>
        <a:srgbClr val="6A3FA0"/>
      </a:folHlink>
    </a:clrScheme>
    <a:fontScheme name="Password Checker Gui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Password Strength Checker: how to use it and how it works</dc:title>
  <dc:subject>PptxGenJS Presentation</dc:subject>
  <dc:creator>PptxGenJS</dc:creator>
  <cp:lastModifiedBy>PptxGenJS</cp:lastModifiedBy>
  <cp:revision>1</cp:revision>
  <dcterms:created xsi:type="dcterms:W3CDTF">2026-10-10T06:52:52Z</dcterms:created>
  <dcterms:modified xsi:type="dcterms:W3CDTF">2026-10-10T06:52:52Z</dcterms:modified>
</cp:coreProperties>
</file>